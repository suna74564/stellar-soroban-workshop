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b40244d20a924007" /><Relationship Type="http://schemas.openxmlformats.org/officeDocument/2006/relationships/extended-properties" Target="/docProps/app.xml" Id="R032e8411e16240ea" /><Relationship Type="http://schemas.openxmlformats.org/officeDocument/2006/relationships/officeDocument" Target="/ppt/presentation.xml" Id="R092d5168774d4465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067f6f003f594ca0"/>
  </p:sldMasterIdLst>
  <p:notesMasterIdLst>
    <p:notesMasterId xmlns:r="http://schemas.openxmlformats.org/officeDocument/2006/relationships" r:id="R95c0e16350e1491f"/>
  </p:notesMasterIdLst>
  <p:sldIdLst>
    <p:sldId xmlns:r="http://schemas.openxmlformats.org/officeDocument/2006/relationships" id="256" r:id="R5d2708be9113454c"/>
    <p:sldId xmlns:r="http://schemas.openxmlformats.org/officeDocument/2006/relationships" id="257" r:id="Raeee7626f6e1432a"/>
    <p:sldId xmlns:r="http://schemas.openxmlformats.org/officeDocument/2006/relationships" id="258" r:id="R1d53641a5e4a433d"/>
    <p:sldId xmlns:r="http://schemas.openxmlformats.org/officeDocument/2006/relationships" id="259" r:id="R752e72a8a0744f17"/>
    <p:sldId xmlns:r="http://schemas.openxmlformats.org/officeDocument/2006/relationships" id="260" r:id="R83462e7841bd454a"/>
    <p:sldId xmlns:r="http://schemas.openxmlformats.org/officeDocument/2006/relationships" id="261" r:id="Rb67a7432aac44f3b"/>
    <p:sldId xmlns:r="http://schemas.openxmlformats.org/officeDocument/2006/relationships" id="262" r:id="Rd922cff1275e4927"/>
    <p:sldId xmlns:r="http://schemas.openxmlformats.org/officeDocument/2006/relationships" id="263" r:id="R1e746c1fe1234144"/>
    <p:sldId xmlns:r="http://schemas.openxmlformats.org/officeDocument/2006/relationships" id="264" r:id="Rb7349b66a4f7480b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e09cde6b23924d5d" /><Relationship Type="http://schemas.openxmlformats.org/officeDocument/2006/relationships/slideMaster" Target="/ppt/slideMasters/slideMaster1.xml" Id="R067f6f003f594ca0" /><Relationship Type="http://schemas.openxmlformats.org/officeDocument/2006/relationships/notesMaster" Target="/ppt/notesMasters/notesMaster1.xml" Id="R95c0e16350e1491f" /><Relationship Type="http://schemas.openxmlformats.org/officeDocument/2006/relationships/presProps" Target="/ppt/presProps.xml" Id="R32252cdb425844ee" /><Relationship Type="http://schemas.openxmlformats.org/officeDocument/2006/relationships/tableStyles" Target="/ppt/tableStyles.xml" Id="R272e4b89567644a7" /><Relationship Type="http://schemas.openxmlformats.org/officeDocument/2006/relationships/slide" Target="/ppt/slides/slide1.xml" Id="R5d2708be9113454c" /><Relationship Type="http://schemas.openxmlformats.org/officeDocument/2006/relationships/slide" Target="/ppt/slides/slide2.xml" Id="Raeee7626f6e1432a" /><Relationship Type="http://schemas.openxmlformats.org/officeDocument/2006/relationships/slide" Target="/ppt/slides/slide3.xml" Id="R1d53641a5e4a433d" /><Relationship Type="http://schemas.openxmlformats.org/officeDocument/2006/relationships/slide" Target="/ppt/slides/slide4.xml" Id="R752e72a8a0744f17" /><Relationship Type="http://schemas.openxmlformats.org/officeDocument/2006/relationships/slide" Target="/ppt/slides/slide5.xml" Id="R83462e7841bd454a" /><Relationship Type="http://schemas.openxmlformats.org/officeDocument/2006/relationships/slide" Target="/ppt/slides/slide6.xml" Id="Rb67a7432aac44f3b" /><Relationship Type="http://schemas.openxmlformats.org/officeDocument/2006/relationships/slide" Target="/ppt/slides/slide7.xml" Id="Rd922cff1275e4927" /><Relationship Type="http://schemas.openxmlformats.org/officeDocument/2006/relationships/slide" Target="/ppt/slides/slide8.xml" Id="R1e746c1fe1234144" /><Relationship Type="http://schemas.openxmlformats.org/officeDocument/2006/relationships/slide" Target="/ppt/slides/slide9.xml" Id="Rb7349b66a4f7480b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7fd2a5fb96994858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d6464fc411ac4c51" /><Relationship Type="http://schemas.openxmlformats.org/officeDocument/2006/relationships/notesMaster" Target="/ppt/notesMasters/notesMaster1.xml" Id="R379ee193a17e4bc8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e2d9af9b2c7248ca" /><Relationship Type="http://schemas.openxmlformats.org/officeDocument/2006/relationships/notesMaster" Target="/ppt/notesMasters/notesMaster1.xml" Id="R9d7dd7258f18486b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1c5aa77fa76f4671" /><Relationship Type="http://schemas.openxmlformats.org/officeDocument/2006/relationships/notesMaster" Target="/ppt/notesMasters/notesMaster1.xml" Id="Rc4dc838d314e461c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0cbca981a2b14436" /><Relationship Type="http://schemas.openxmlformats.org/officeDocument/2006/relationships/notesMaster" Target="/ppt/notesMasters/notesMaster1.xml" Id="R47285729d8534a75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3c3519ba7ecf4f2e" /><Relationship Type="http://schemas.openxmlformats.org/officeDocument/2006/relationships/notesMaster" Target="/ppt/notesMasters/notesMaster1.xml" Id="R4a10e9f146544d5e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a857f9a0ba3645eb" /><Relationship Type="http://schemas.openxmlformats.org/officeDocument/2006/relationships/notesMaster" Target="/ppt/notesMasters/notesMaster1.xml" Id="R11ff229606ed4037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8a9cde947a544b21" /><Relationship Type="http://schemas.openxmlformats.org/officeDocument/2006/relationships/notesMaster" Target="/ppt/notesMasters/notesMaster1.xml" Id="Rb21b2bc8a8cb4c96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c7b8da6e409b44c3" /><Relationship Type="http://schemas.openxmlformats.org/officeDocument/2006/relationships/notesMaster" Target="/ppt/notesMasters/notesMaster1.xml" Id="R02449e939ed343d8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490471c386e3400b" /><Relationship Type="http://schemas.openxmlformats.org/officeDocument/2006/relationships/notesMaster" Target="/ppt/notesMasters/notesMaster1.xml" Id="R7a2564542d304bad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Local product screenshot from frontend/public/wallet-options-screenshot.png.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Project requirements provided in the Level 5 prompt; ProofBull local README.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ProofBull frontend and contract workflow in the local repository.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Local product screenshots from frontend/public.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Local README architecture section and backend/frontend source files.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Level 5 requirements in the prompt and local Level 5 evidence files.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Product positioning derived from the ProofBull repository and Level 5 requirements.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Growth strategy created from Level 5 requirements and current product capabilities.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Local Level 5 evidence plan and roadmap workbook.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150749098264b8a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805979b1ea5a4e74" /><Relationship Type="http://schemas.openxmlformats.org/officeDocument/2006/relationships/slideLayout" Target="/ppt/slideLayouts/slideLayout1.xml" Id="Re12f656bbfa548c8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e12f656bbfa548c8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a0855cf03024e39" /><Relationship Type="http://schemas.openxmlformats.org/officeDocument/2006/relationships/image" Target="/ppt/media/image.png" Id="R0f6c14cf87f14f6a" /><Relationship Type="http://schemas.openxmlformats.org/officeDocument/2006/relationships/notesSlide" Target="/ppt/notesSlides/notesSlide1.xml" Id="R126fb697a60b4b8d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8139176d5af4c07" /><Relationship Type="http://schemas.openxmlformats.org/officeDocument/2006/relationships/notesSlide" Target="/ppt/notesSlides/notesSlide2.xml" Id="Re3a0b742334b4193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957a1ca1ada43f8" /><Relationship Type="http://schemas.openxmlformats.org/officeDocument/2006/relationships/notesSlide" Target="/ppt/notesSlides/notesSlide3.xml" Id="Reb86d4602a6747f3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db9ba8c4ca04514" /><Relationship Type="http://schemas.openxmlformats.org/officeDocument/2006/relationships/image" Target="/ppt/media/image2.png" Id="R7c7c5dec74944516" /><Relationship Type="http://schemas.openxmlformats.org/officeDocument/2006/relationships/image" Target="/ppt/media/image3.png" Id="R44aa4f9db1c34076" /><Relationship Type="http://schemas.openxmlformats.org/officeDocument/2006/relationships/notesSlide" Target="/ppt/notesSlides/notesSlide4.xml" Id="R73548feabda64237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4c5d9c5369443d8" /><Relationship Type="http://schemas.openxmlformats.org/officeDocument/2006/relationships/notesSlide" Target="/ppt/notesSlides/notesSlide5.xml" Id="Rf1b0af6b70e44dff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5956f28a8784ab8" /><Relationship Type="http://schemas.openxmlformats.org/officeDocument/2006/relationships/notesSlide" Target="/ppt/notesSlides/notesSlide6.xml" Id="R910efd6ddcd14874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4f884648113439d" /><Relationship Type="http://schemas.openxmlformats.org/officeDocument/2006/relationships/notesSlide" Target="/ppt/notesSlides/notesSlide7.xml" Id="Re0348e580ec8411c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ea336ca1fab4e9c" /><Relationship Type="http://schemas.openxmlformats.org/officeDocument/2006/relationships/notesSlide" Target="/ppt/notesSlides/notesSlide8.xml" Id="Ra77c09e7c2f04929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037f630ccca468e" /><Relationship Type="http://schemas.openxmlformats.org/officeDocument/2006/relationships/notesSlide" Target="/ppt/notesSlides/notesSlide9.xml" Id="R68d2faa136bc42c6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1100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A498197-10D9-44DE-9742-B3BD882B4E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FF45"/>
          </a:solidFill>
          <a:ln xmlns:a="http://schemas.openxmlformats.org/drawingml/2006/main" w="0">
            <a:solidFill>
              <a:srgbClr val="C9FF45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4BD15E3-CC17-49E6-8347-F8F3282E70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04850"/>
            <a:ext cx="3429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C9FF45"/>
                </a:solidFill>
              </a:defRPr>
            </a:pPr>
            <a:r>
              <a:rPr sz="1350" b="1">
                <a:solidFill>
                  <a:srgbClr val="C9FF45"/>
                </a:solidFill>
              </a:rPr>
              <a:t>PROOFBULL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1453055-B9F6-4EEA-8C64-EB2FB78FB1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57300"/>
            <a:ext cx="6191250" cy="1771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4050" b="1">
                <a:solidFill>
                  <a:srgbClr val="FFFAF0"/>
                </a:solidFill>
              </a:defRPr>
            </a:pPr>
            <a:r>
              <a:rPr sz="4050" b="1">
                <a:solidFill>
                  <a:srgbClr val="FFFAF0"/>
                </a:solidFill>
              </a:rPr>
              <a:t>Stellar check-ins for verifiable builder activity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BE52005-F701-4B73-8F5B-728232B726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276600"/>
            <a:ext cx="5334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D8D3C8"/>
                </a:solidFill>
              </a:defRPr>
            </a:pPr>
            <a:r>
              <a:rPr sz="1650" b="0">
                <a:solidFill>
                  <a:srgbClr val="D8D3C8"/>
                </a:solidFill>
              </a:rPr>
              <a:t>Blue Belt pitch deck // User growth, product iteration, and demo readiness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7C1476D-B3B7-49AA-A425-E734FCD703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495800"/>
            <a:ext cx="1428750" cy="1428750"/>
          </a:xfrm>
          <a:prstGeom xmlns:a="http://schemas.openxmlformats.org/drawingml/2006/main" prst="roundRect">
            <a:avLst>
              <a:gd name="adj" fmla="val 4000"/>
            </a:avLst>
          </a:prstGeom>
          <a:noFill xmlns:a="http://schemas.openxmlformats.org/drawingml/2006/main"/>
          <a:ln xmlns:a="http://schemas.openxmlformats.org/drawingml/2006/main" w="19050">
            <a:solidFill>
              <a:srgbClr val="C9FF45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B6E72B3-A7AA-49A4-83DB-A0638117D1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4876800"/>
            <a:ext cx="9144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3300" b="1">
                <a:solidFill>
                  <a:srgbClr val="C9FF45"/>
                </a:solidFill>
              </a:defRPr>
            </a:pPr>
            <a:r>
              <a:rPr sz="3300" b="1">
                <a:solidFill>
                  <a:srgbClr val="C9FF45"/>
                </a:solidFill>
              </a:rPr>
              <a:t>PB</a:t>
            </a:r>
          </a:p>
        </p:txBody>
      </p:sp>
      <p:pic>
        <p:nvPicPr>
          <p:cNvPr id="1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f6c14cf87f14f6a"/>
          <a:srcRect xmlns:a="http://schemas.openxmlformats.org/drawingml/2006/main" l="16948" t="0" r="16948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181850" y="800100"/>
            <a:ext cx="4324350" cy="5219700"/>
          </a:xfrm>
          <a:prstGeom xmlns:a="http://schemas.openxmlformats.org/drawingml/2006/main" prst="roundRect">
            <a:avLst>
              <a:gd name="adj" fmla="val 1322"/>
            </a:avLst>
          </a:prstGeom>
        </p:spPr>
      </p:pic>
    </p:spTree>
    <p:extLst>
      <p:ext uri="{BB962C8B-B14F-4D97-AF65-F5344CB8AC3E}">
        <p14:creationId xmlns:p14="http://schemas.microsoft.com/office/powerpoint/2010/main" val="1143197642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A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6E15515-CED1-4219-B4E9-85B2EC16F4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4350"/>
            <a:ext cx="4953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FF6242"/>
                </a:solidFill>
              </a:defRPr>
            </a:pPr>
            <a:r>
              <a:rPr sz="1200" b="1">
                <a:solidFill>
                  <a:srgbClr val="FF6242"/>
                </a:solidFill>
              </a:rPr>
              <a:t>PROBLEM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C65CB5E-C28C-4335-BE5E-250AA46C88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38200"/>
            <a:ext cx="72390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14120F"/>
                </a:solidFill>
              </a:defRPr>
            </a:pPr>
            <a:r>
              <a:rPr sz="3600" b="1">
                <a:solidFill>
                  <a:srgbClr val="14120F"/>
                </a:solidFill>
              </a:rPr>
              <a:t>Early dApps struggle to prove real usage.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BF42D7D-E3BA-4FC4-AEE5-89FAE357D4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590800"/>
            <a:ext cx="228600" cy="2286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C9FF45"/>
          </a:solidFill>
          <a:ln xmlns:a="http://schemas.openxmlformats.org/drawingml/2006/main" w="19050">
            <a:solidFill>
              <a:srgbClr val="211B15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1A3B6F5-90F9-4ACD-8D75-AE84AA70D8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2571750"/>
            <a:ext cx="6286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14120F"/>
                </a:solidFill>
              </a:defRPr>
            </a:pPr>
            <a:r>
              <a:rPr sz="1800" b="1">
                <a:solidFill>
                  <a:srgbClr val="14120F"/>
                </a:solidFill>
              </a:rPr>
              <a:t>Wallet activity is scattered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13A2621-6D48-4DBB-9F28-16741D33D2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2876550"/>
            <a:ext cx="6286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F675D"/>
                </a:solidFill>
              </a:defRPr>
            </a:pPr>
            <a:r>
              <a:rPr sz="1200" b="0">
                <a:solidFill>
                  <a:srgbClr val="6F675D"/>
                </a:solidFill>
              </a:rPr>
              <a:t>Builders often share screenshots, but reviewers need verifiable Testnet interactions.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F7616C9-9FC8-4A21-A555-9BA460F8ED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314700"/>
            <a:ext cx="228600" cy="2286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2BD9FF"/>
          </a:solidFill>
          <a:ln xmlns:a="http://schemas.openxmlformats.org/drawingml/2006/main" w="19050">
            <a:solidFill>
              <a:srgbClr val="211B15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105FE83-ECEA-46D1-BBD4-3D5AD7109E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3295650"/>
            <a:ext cx="6286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14120F"/>
                </a:solidFill>
              </a:defRPr>
            </a:pPr>
            <a:r>
              <a:rPr sz="1800" b="1">
                <a:solidFill>
                  <a:srgbClr val="14120F"/>
                </a:solidFill>
              </a:rPr>
              <a:t>Onboarding drops at signing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11387EA-27BF-47D2-9BB1-986D589A95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3600450"/>
            <a:ext cx="6286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F675D"/>
                </a:solidFill>
              </a:defRPr>
            </a:pPr>
            <a:r>
              <a:rPr sz="1200" b="0">
                <a:solidFill>
                  <a:srgbClr val="6F675D"/>
                </a:solidFill>
              </a:rPr>
              <a:t>New users get lost between wallet selection, Testnet funding, and transaction confirmation.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C35ADD9-2DBD-4E7B-A51B-5AB9EAA1DE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038600"/>
            <a:ext cx="228600" cy="2286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C9FF45"/>
          </a:solidFill>
          <a:ln xmlns:a="http://schemas.openxmlformats.org/drawingml/2006/main" w="19050">
            <a:solidFill>
              <a:srgbClr val="211B15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6BFAF6F-4B6C-40F1-A6FE-0C347DB9DB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4019550"/>
            <a:ext cx="6286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14120F"/>
                </a:solidFill>
              </a:defRPr>
            </a:pPr>
            <a:r>
              <a:rPr sz="1800" b="1">
                <a:solidFill>
                  <a:srgbClr val="14120F"/>
                </a:solidFill>
              </a:rPr>
              <a:t>Feedback is disconnected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71372BF-6C9F-4E31-9157-04705E2224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4324350"/>
            <a:ext cx="6286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F675D"/>
                </a:solidFill>
              </a:defRPr>
            </a:pPr>
            <a:r>
              <a:rPr sz="1200" b="0">
                <a:solidFill>
                  <a:srgbClr val="6F675D"/>
                </a:solidFill>
              </a:rPr>
              <a:t>Product iteration slows when wallet proof and user feedback live in separate places.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9131AA0-C6C0-4DF9-867B-D1DC588A33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1524000"/>
            <a:ext cx="2476500" cy="2476500"/>
          </a:xfrm>
          <a:prstGeom xmlns:a="http://schemas.openxmlformats.org/drawingml/2006/main" prst="roundRect">
            <a:avLst>
              <a:gd name="adj" fmla="val 2308"/>
            </a:avLst>
          </a:prstGeom>
          <a:solidFill xmlns:a="http://schemas.openxmlformats.org/drawingml/2006/main">
            <a:srgbClr val="14120F"/>
          </a:solidFill>
          <a:ln xmlns:a="http://schemas.openxmlformats.org/drawingml/2006/main" w="19050">
            <a:solidFill>
              <a:srgbClr val="211B15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3AA2344-A437-4D2E-8484-28E4918867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2247900"/>
            <a:ext cx="17145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FFFAF0"/>
                </a:solidFill>
              </a:defRPr>
            </a:pPr>
            <a:r>
              <a:rPr sz="2100" b="1">
                <a:solidFill>
                  <a:srgbClr val="FFFAF0"/>
                </a:solidFill>
              </a:rPr>
              <a:t>Reviewers need proof they can inspect.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4AC9230-F888-4A7E-8319-7F34813872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24600"/>
            <a:ext cx="3238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6F675D"/>
                </a:solidFill>
              </a:defRPr>
            </a:pPr>
            <a:r>
              <a:rPr sz="900" b="1">
                <a:solidFill>
                  <a:srgbClr val="6F675D"/>
                </a:solidFill>
              </a:rPr>
              <a:t>ProofBull // Level 5 Blue Belt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127D6A2-0715-41E4-97C2-C06DD5F5FA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286500"/>
            <a:ext cx="457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6F675D"/>
                </a:solidFill>
              </a:defRPr>
            </a:pPr>
            <a:r>
              <a:rPr sz="1200" b="1">
                <a:solidFill>
                  <a:srgbClr val="6F675D"/>
                </a:solidFill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1172356120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A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B8032A4-6C76-47EA-A081-B8D0DCBA9E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4350"/>
            <a:ext cx="4953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FF6242"/>
                </a:solidFill>
              </a:defRPr>
            </a:pPr>
            <a:r>
              <a:rPr sz="1200" b="1">
                <a:solidFill>
                  <a:srgbClr val="FF6242"/>
                </a:solidFill>
              </a:rPr>
              <a:t>SOLUTION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D1F155E-D58C-4CB6-8B48-E509F2A4A8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38200"/>
            <a:ext cx="72390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14120F"/>
                </a:solidFill>
              </a:defRPr>
            </a:pPr>
            <a:r>
              <a:rPr sz="3600" b="1">
                <a:solidFill>
                  <a:srgbClr val="14120F"/>
                </a:solidFill>
              </a:rPr>
              <a:t>ProofBull turns a wallet action into a review-ready proof trail.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FE1EC2C-9892-44F2-8E18-941461B3C9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724150"/>
            <a:ext cx="2247900" cy="1809750"/>
          </a:xfrm>
          <a:prstGeom xmlns:a="http://schemas.openxmlformats.org/drawingml/2006/main" prst="roundRect">
            <a:avLst>
              <a:gd name="adj" fmla="val 3158"/>
            </a:avLst>
          </a:prstGeom>
          <a:solidFill xmlns:a="http://schemas.openxmlformats.org/drawingml/2006/main">
            <a:srgbClr val="C9FF45"/>
          </a:solidFill>
          <a:ln xmlns:a="http://schemas.openxmlformats.org/drawingml/2006/main" w="19050">
            <a:solidFill>
              <a:srgbClr val="211B15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26DC564-53BB-42BC-AD6C-90B09A3FC7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914650"/>
            <a:ext cx="4572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4120F"/>
                </a:solidFill>
              </a:defRPr>
            </a:pPr>
            <a:r>
              <a:rPr sz="3150" b="1">
                <a:solidFill>
                  <a:srgbClr val="14120F"/>
                </a:solidFill>
              </a:rPr>
              <a:t>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A028143-869F-422B-8D58-D56394861A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562350"/>
            <a:ext cx="18669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14120F"/>
                </a:solidFill>
              </a:defRPr>
            </a:pPr>
            <a:r>
              <a:rPr sz="1875" b="1">
                <a:solidFill>
                  <a:srgbClr val="14120F"/>
                </a:solidFill>
              </a:rPr>
              <a:t>Connect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06009AF-905A-4236-86BD-F5ACB5AA16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057650"/>
            <a:ext cx="1866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14120F"/>
                </a:solidFill>
              </a:defRPr>
            </a:pPr>
            <a:r>
              <a:rPr sz="1125" b="0">
                <a:solidFill>
                  <a:srgbClr val="14120F"/>
                </a:solidFill>
              </a:rPr>
              <a:t>Pick a Stellar Testnet wallet.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B1D5D7C-3F54-452A-BAF2-CEE9372881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2724150"/>
            <a:ext cx="2247900" cy="1809750"/>
          </a:xfrm>
          <a:prstGeom xmlns:a="http://schemas.openxmlformats.org/drawingml/2006/main" prst="roundRect">
            <a:avLst>
              <a:gd name="adj" fmla="val 3158"/>
            </a:avLst>
          </a:prstGeom>
          <a:solidFill xmlns:a="http://schemas.openxmlformats.org/drawingml/2006/main">
            <a:srgbClr val="2BD9FF"/>
          </a:solidFill>
          <a:ln xmlns:a="http://schemas.openxmlformats.org/drawingml/2006/main" w="19050">
            <a:solidFill>
              <a:srgbClr val="211B15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195C873-FD27-4F1A-880E-38E11ED906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2914650"/>
            <a:ext cx="4572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4120F"/>
                </a:solidFill>
              </a:defRPr>
            </a:pPr>
            <a:r>
              <a:rPr sz="3150" b="1">
                <a:solidFill>
                  <a:srgbClr val="14120F"/>
                </a:solidFill>
              </a:rPr>
              <a:t>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403EE3E-36EB-4E63-8B85-D3CB81300C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3562350"/>
            <a:ext cx="18669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14120F"/>
                </a:solidFill>
              </a:defRPr>
            </a:pPr>
            <a:r>
              <a:rPr sz="1875" b="1">
                <a:solidFill>
                  <a:srgbClr val="14120F"/>
                </a:solidFill>
              </a:rPr>
              <a:t>Check in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94E045F-5D9E-4E77-B283-F1B36520FB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4057650"/>
            <a:ext cx="1866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14120F"/>
                </a:solidFill>
              </a:defRPr>
            </a:pPr>
            <a:r>
              <a:rPr sz="1125" b="0">
                <a:solidFill>
                  <a:srgbClr val="14120F"/>
                </a:solidFill>
              </a:rPr>
              <a:t>Record the action with Soroban.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FF8192F-5CAB-4D53-A771-CC8D1492D8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2724150"/>
            <a:ext cx="2247900" cy="1809750"/>
          </a:xfrm>
          <a:prstGeom xmlns:a="http://schemas.openxmlformats.org/drawingml/2006/main" prst="roundRect">
            <a:avLst>
              <a:gd name="adj" fmla="val 3158"/>
            </a:avLst>
          </a:prstGeom>
          <a:solidFill xmlns:a="http://schemas.openxmlformats.org/drawingml/2006/main">
            <a:srgbClr val="C9FF45"/>
          </a:solidFill>
          <a:ln xmlns:a="http://schemas.openxmlformats.org/drawingml/2006/main" w="19050">
            <a:solidFill>
              <a:srgbClr val="211B15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7B9D283-FD26-4CC1-9FE6-9D47CDF5AB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914650"/>
            <a:ext cx="4572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4120F"/>
                </a:solidFill>
              </a:defRPr>
            </a:pPr>
            <a:r>
              <a:rPr sz="3150" b="1">
                <a:solidFill>
                  <a:srgbClr val="14120F"/>
                </a:solidFill>
              </a:rPr>
              <a:t>3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34F5AB7-5047-4A74-B9AE-6379B7FFE4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3562350"/>
            <a:ext cx="18669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14120F"/>
                </a:solidFill>
              </a:defRPr>
            </a:pPr>
            <a:r>
              <a:rPr sz="1875" b="1">
                <a:solidFill>
                  <a:srgbClr val="14120F"/>
                </a:solidFill>
              </a:rPr>
              <a:t>Earn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40450FE-8992-4FA3-95E9-0A58635904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4057650"/>
            <a:ext cx="1866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14120F"/>
                </a:solidFill>
              </a:defRPr>
            </a:pPr>
            <a:r>
              <a:rPr sz="1125" b="0">
                <a:solidFill>
                  <a:srgbClr val="14120F"/>
                </a:solidFill>
              </a:rPr>
              <a:t>Turn activity into a badge score.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4BDD04D-7025-4495-B2F5-820A086E56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2724150"/>
            <a:ext cx="2247900" cy="1809750"/>
          </a:xfrm>
          <a:prstGeom xmlns:a="http://schemas.openxmlformats.org/drawingml/2006/main" prst="roundRect">
            <a:avLst>
              <a:gd name="adj" fmla="val 3158"/>
            </a:avLst>
          </a:prstGeom>
          <a:solidFill xmlns:a="http://schemas.openxmlformats.org/drawingml/2006/main">
            <a:srgbClr val="2BD9FF"/>
          </a:solidFill>
          <a:ln xmlns:a="http://schemas.openxmlformats.org/drawingml/2006/main" w="19050">
            <a:solidFill>
              <a:srgbClr val="211B15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A47917F-4BDA-4448-B16E-7E23A2C2F0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2914650"/>
            <a:ext cx="4572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4120F"/>
                </a:solidFill>
              </a:defRPr>
            </a:pPr>
            <a:r>
              <a:rPr sz="3150" b="1">
                <a:solidFill>
                  <a:srgbClr val="14120F"/>
                </a:solidFill>
              </a:rPr>
              <a:t>4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8EBD9FE-5F65-403B-B820-DA284C3E9A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3562350"/>
            <a:ext cx="18669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14120F"/>
                </a:solidFill>
              </a:defRPr>
            </a:pPr>
            <a:r>
              <a:rPr sz="1875" b="1">
                <a:solidFill>
                  <a:srgbClr val="14120F"/>
                </a:solidFill>
              </a:rPr>
              <a:t>Submit feedback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592BB26-2AD2-47A6-A54C-43B1CB2182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4057650"/>
            <a:ext cx="1866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14120F"/>
                </a:solidFill>
              </a:defRPr>
            </a:pPr>
            <a:r>
              <a:rPr sz="1125" b="0">
                <a:solidFill>
                  <a:srgbClr val="14120F"/>
                </a:solidFill>
              </a:rPr>
              <a:t>The product captures what to improve next.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C8991CB-7C10-42E7-8801-C6BEC27EF8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5105400"/>
            <a:ext cx="9220200" cy="51435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14120F"/>
          </a:solidFill>
          <a:ln xmlns:a="http://schemas.openxmlformats.org/drawingml/2006/main" w="19050">
            <a:solidFill>
              <a:srgbClr val="211B15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FAA4BF5-BDE8-4A47-BA9E-95C6E625EC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0700" y="5219700"/>
            <a:ext cx="8610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FFAF0"/>
                </a:solidFill>
              </a:defRPr>
            </a:pPr>
            <a:r>
              <a:rPr sz="1650" b="1">
                <a:solidFill>
                  <a:srgbClr val="FFFAF0"/>
                </a:solidFill>
              </a:rPr>
              <a:t>One flow combines onboarding, proof, analytics, and feedback.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CDD679D-59CC-4425-9FE1-76B85C0F06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24600"/>
            <a:ext cx="3238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6F675D"/>
                </a:solidFill>
              </a:defRPr>
            </a:pPr>
            <a:r>
              <a:rPr sz="900" b="1">
                <a:solidFill>
                  <a:srgbClr val="6F675D"/>
                </a:solidFill>
              </a:rPr>
              <a:t>ProofBull // Level 5 Blue Belt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A3C51B5-CF73-4B18-A59F-9BC28F54D6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286500"/>
            <a:ext cx="457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6F675D"/>
                </a:solidFill>
              </a:defRPr>
            </a:pPr>
            <a:r>
              <a:rPr sz="1200" b="1">
                <a:solidFill>
                  <a:srgbClr val="6F675D"/>
                </a:solidFill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310991398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A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79C118A-7368-4422-B410-146011CB54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4350"/>
            <a:ext cx="4953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FF6242"/>
                </a:solidFill>
              </a:defRPr>
            </a:pPr>
            <a:r>
              <a:rPr sz="1200" b="1">
                <a:solidFill>
                  <a:srgbClr val="FF6242"/>
                </a:solidFill>
              </a:rPr>
              <a:t>PRODUCT WALKTHROUGH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992D47A-A504-4722-8AEC-E6495064E8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76300"/>
            <a:ext cx="72390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450" b="1">
                <a:solidFill>
                  <a:srgbClr val="14120F"/>
                </a:solidFill>
              </a:defRPr>
            </a:pPr>
            <a:r>
              <a:rPr sz="3450" b="1">
                <a:solidFill>
                  <a:srgbClr val="14120F"/>
                </a:solidFill>
              </a:rPr>
              <a:t>Live, responsive, built for the signing moment.</a:t>
            </a:r>
          </a:p>
        </p:txBody>
      </p:sp>
      <p:pic>
        <p:nvPicPr>
          <p:cNvPr id="1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c7c5dec74944516"/>
          <a:srcRect xmlns:a="http://schemas.openxmlformats.org/drawingml/2006/main" l="0" t="21354" r="0" b="2135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00100" y="2324100"/>
            <a:ext cx="7334250" cy="3352800"/>
          </a:xfrm>
          <a:prstGeom xmlns:a="http://schemas.openxmlformats.org/drawingml/2006/main" prst="roundRect">
            <a:avLst>
              <a:gd name="adj" fmla="val 1705"/>
            </a:avLst>
          </a:prstGeom>
        </p:spPr>
      </p:pic>
      <p:pic>
        <p:nvPicPr>
          <p:cNvPr id="1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4aa4f9db1c34076"/>
          <a:srcRect xmlns:a="http://schemas.openxmlformats.org/drawingml/2006/main" l="0" t="34229" r="0" b="34229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705850" y="1714500"/>
            <a:ext cx="1866900" cy="4324350"/>
          </a:xfrm>
          <a:prstGeom xmlns:a="http://schemas.openxmlformats.org/drawingml/2006/main" prst="roundRect">
            <a:avLst>
              <a:gd name="adj" fmla="val 3061"/>
            </a:avLst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27C7FE8-433E-4A73-B2AF-E7C5C14531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2095500"/>
            <a:ext cx="723900" cy="723900"/>
          </a:xfrm>
          <a:prstGeom xmlns:a="http://schemas.openxmlformats.org/drawingml/2006/main" prst="roundRect">
            <a:avLst>
              <a:gd name="adj" fmla="val 7895"/>
            </a:avLst>
          </a:prstGeom>
          <a:solidFill xmlns:a="http://schemas.openxmlformats.org/drawingml/2006/main">
            <a:srgbClr val="C9FF45"/>
          </a:solidFill>
          <a:ln xmlns:a="http://schemas.openxmlformats.org/drawingml/2006/main" w="19050">
            <a:solidFill>
              <a:srgbClr val="211B15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EACAB0C-6560-4022-B2D0-8772C9A64C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2914650"/>
            <a:ext cx="11239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4120F"/>
                </a:solidFill>
              </a:defRPr>
            </a:pPr>
            <a:r>
              <a:rPr sz="1350" b="1">
                <a:solidFill>
                  <a:srgbClr val="14120F"/>
                </a:solidFill>
              </a:rPr>
              <a:t>Mobile proof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E04903A-9D2D-41BF-A436-4AF03E5254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24600"/>
            <a:ext cx="3238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6F675D"/>
                </a:solidFill>
              </a:defRPr>
            </a:pPr>
            <a:r>
              <a:rPr sz="900" b="1">
                <a:solidFill>
                  <a:srgbClr val="6F675D"/>
                </a:solidFill>
              </a:rPr>
              <a:t>ProofBull // Level 5 Blue Belt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B7F9710-A825-4347-AAF7-9D0E1ACC46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286500"/>
            <a:ext cx="457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6F675D"/>
                </a:solidFill>
              </a:defRPr>
            </a:pPr>
            <a:r>
              <a:rPr sz="1200" b="1">
                <a:solidFill>
                  <a:srgbClr val="6F675D"/>
                </a:solidFill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1602944529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A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7D8A07D-6870-4FF7-BF41-C2D4488339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4350"/>
            <a:ext cx="4953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FF6242"/>
                </a:solidFill>
              </a:defRPr>
            </a:pPr>
            <a:r>
              <a:rPr sz="1200" b="1">
                <a:solidFill>
                  <a:srgbClr val="FF6242"/>
                </a:solidFill>
              </a:rPr>
              <a:t>ARCHITECTURE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B7868A0-CBCE-426E-AB9C-E025C61904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38200"/>
            <a:ext cx="72390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14120F"/>
                </a:solidFill>
              </a:defRPr>
            </a:pPr>
            <a:r>
              <a:rPr sz="3600" b="1">
                <a:solidFill>
                  <a:srgbClr val="14120F"/>
                </a:solidFill>
              </a:rPr>
              <a:t>ProofBull separates wallet UX, proof APIs, and Soroban logic.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8D462F0-CD41-41BE-9383-68E48E128C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647950"/>
            <a:ext cx="7239000" cy="552450"/>
          </a:xfrm>
          <a:prstGeom xmlns:a="http://schemas.openxmlformats.org/drawingml/2006/main" prst="roundRect">
            <a:avLst>
              <a:gd name="adj" fmla="val 1034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211B15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2E87EC2-C62F-4ABA-82BD-0930553896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733675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4120F"/>
                </a:solidFill>
              </a:defRPr>
            </a:pPr>
            <a:r>
              <a:rPr sz="1650" b="1">
                <a:solidFill>
                  <a:srgbClr val="14120F"/>
                </a:solidFill>
              </a:rPr>
              <a:t>React frontend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0874553-73C2-4C42-8AF8-50E745399F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2762250"/>
            <a:ext cx="3905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6F675D"/>
                </a:solidFill>
              </a:defRPr>
            </a:pPr>
            <a:r>
              <a:rPr sz="1275" b="0">
                <a:solidFill>
                  <a:srgbClr val="6F675D"/>
                </a:solidFill>
              </a:rPr>
              <a:t>Wallet selector, transaction states, monitoring, feedback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AE1949E-271B-486A-A021-5C4D924268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352800"/>
            <a:ext cx="7239000" cy="552450"/>
          </a:xfrm>
          <a:prstGeom xmlns:a="http://schemas.openxmlformats.org/drawingml/2006/main" prst="roundRect">
            <a:avLst>
              <a:gd name="adj" fmla="val 10345"/>
            </a:avLst>
          </a:prstGeom>
          <a:solidFill xmlns:a="http://schemas.openxmlformats.org/drawingml/2006/main">
            <a:srgbClr val="FFF3D5"/>
          </a:solidFill>
          <a:ln xmlns:a="http://schemas.openxmlformats.org/drawingml/2006/main" w="19050">
            <a:solidFill>
              <a:srgbClr val="211B15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FF8C645-C174-4DB5-AC1E-B361A03F45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438525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4120F"/>
                </a:solidFill>
              </a:defRPr>
            </a:pPr>
            <a:r>
              <a:rPr sz="1650" b="1">
                <a:solidFill>
                  <a:srgbClr val="14120F"/>
                </a:solidFill>
              </a:rPr>
              <a:t>Express API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82B4139-28C7-4393-A760-6DA72B5D07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3467100"/>
            <a:ext cx="3905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6F675D"/>
                </a:solidFill>
              </a:defRPr>
            </a:pPr>
            <a:r>
              <a:rPr sz="1275" b="0">
                <a:solidFill>
                  <a:srgbClr val="6F675D"/>
                </a:solidFill>
              </a:rPr>
              <a:t>Horizon lookup, analytics, feedback, proof summaries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F6375CF-AE81-431A-8A80-15F7B40BB3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057650"/>
            <a:ext cx="7239000" cy="552450"/>
          </a:xfrm>
          <a:prstGeom xmlns:a="http://schemas.openxmlformats.org/drawingml/2006/main" prst="roundRect">
            <a:avLst>
              <a:gd name="adj" fmla="val 1034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211B15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931015E-25BB-400A-9E73-F5C682C276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143375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4120F"/>
                </a:solidFill>
              </a:defRPr>
            </a:pPr>
            <a:r>
              <a:rPr sz="1650" b="1">
                <a:solidFill>
                  <a:srgbClr val="14120F"/>
                </a:solidFill>
              </a:rPr>
              <a:t>Soroban contracts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FA986A7-3015-412E-BE60-E5C5843D21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4171950"/>
            <a:ext cx="3905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6F675D"/>
                </a:solidFill>
              </a:defRPr>
            </a:pPr>
            <a:r>
              <a:rPr sz="1275" b="0">
                <a:solidFill>
                  <a:srgbClr val="6F675D"/>
                </a:solidFill>
              </a:rPr>
              <a:t>Check-in contract and reputation badge contract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55FB199-6DC0-41F2-B0AD-A7C1098EC7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762500"/>
            <a:ext cx="7239000" cy="552450"/>
          </a:xfrm>
          <a:prstGeom xmlns:a="http://schemas.openxmlformats.org/drawingml/2006/main" prst="roundRect">
            <a:avLst>
              <a:gd name="adj" fmla="val 10345"/>
            </a:avLst>
          </a:prstGeom>
          <a:solidFill xmlns:a="http://schemas.openxmlformats.org/drawingml/2006/main">
            <a:srgbClr val="FFF3D5"/>
          </a:solidFill>
          <a:ln xmlns:a="http://schemas.openxmlformats.org/drawingml/2006/main" w="19050">
            <a:solidFill>
              <a:srgbClr val="211B15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D9600B1-08ED-4402-ACE9-9250DD2F46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848225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4120F"/>
                </a:solidFill>
              </a:defRPr>
            </a:pPr>
            <a:r>
              <a:rPr sz="1650" b="1">
                <a:solidFill>
                  <a:srgbClr val="14120F"/>
                </a:solidFill>
              </a:rPr>
              <a:t>Stellar Testnet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F56D709-84F4-41E0-993F-B44E7BCF84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4876800"/>
            <a:ext cx="3905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6F675D"/>
                </a:solidFill>
              </a:defRPr>
            </a:pPr>
            <a:r>
              <a:rPr sz="1275" b="0">
                <a:solidFill>
                  <a:srgbClr val="6F675D"/>
                </a:solidFill>
              </a:rPr>
              <a:t>Transaction hashes, ledger events, explorer verification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7D82EDB-FAA8-4ECD-80A5-701A34217E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2362200"/>
            <a:ext cx="1809750" cy="1809750"/>
          </a:xfrm>
          <a:prstGeom xmlns:a="http://schemas.openxmlformats.org/drawingml/2006/main" prst="roundRect">
            <a:avLst>
              <a:gd name="adj" fmla="val 3158"/>
            </a:avLst>
          </a:prstGeom>
          <a:solidFill xmlns:a="http://schemas.openxmlformats.org/drawingml/2006/main">
            <a:srgbClr val="14120F"/>
          </a:solidFill>
          <a:ln xmlns:a="http://schemas.openxmlformats.org/drawingml/2006/main" w="19050">
            <a:solidFill>
              <a:srgbClr val="211B15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0801DF1-4DA8-40B7-834A-541491EAE3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2857500"/>
            <a:ext cx="1162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C9FF45"/>
                </a:solidFill>
              </a:defRPr>
            </a:pPr>
            <a:r>
              <a:rPr sz="1650" b="1">
                <a:solidFill>
                  <a:srgbClr val="C9FF45"/>
                </a:solidFill>
              </a:rPr>
              <a:t>Two contracts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ECE3FD0-B701-49C1-8098-F2D08C8F17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3276600"/>
            <a:ext cx="12192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FFFAF0"/>
                </a:solidFill>
              </a:defRPr>
            </a:pPr>
            <a:r>
              <a:rPr sz="1350" b="0">
                <a:solidFill>
                  <a:srgbClr val="FFFAF0"/>
                </a:solidFill>
              </a:rPr>
              <a:t>check-in + badge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8168F4B-4259-413F-8E87-8F53536C19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24600"/>
            <a:ext cx="3238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6F675D"/>
                </a:solidFill>
              </a:defRPr>
            </a:pPr>
            <a:r>
              <a:rPr sz="900" b="1">
                <a:solidFill>
                  <a:srgbClr val="6F675D"/>
                </a:solidFill>
              </a:rPr>
              <a:t>ProofBull // Level 5 Blue Belt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534C787-7344-4B07-92F2-D141514969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286500"/>
            <a:ext cx="457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6F675D"/>
                </a:solidFill>
              </a:defRPr>
            </a:pPr>
            <a:r>
              <a:rPr sz="1200" b="1">
                <a:solidFill>
                  <a:srgbClr val="6F675D"/>
                </a:solidFill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530927525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A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E3617EB-7B36-4CED-B9E3-D01E71CA98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4350"/>
            <a:ext cx="4953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FF6242"/>
                </a:solidFill>
              </a:defRPr>
            </a:pPr>
            <a:r>
              <a:rPr sz="1200" b="1">
                <a:solidFill>
                  <a:srgbClr val="FF6242"/>
                </a:solidFill>
              </a:rPr>
              <a:t>VALIDATION SYSTEM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26265AC-4FD4-4198-BB3F-B696B75F48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38200"/>
            <a:ext cx="72390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14120F"/>
                </a:solidFill>
              </a:defRPr>
            </a:pPr>
            <a:r>
              <a:rPr sz="3600" b="1">
                <a:solidFill>
                  <a:srgbClr val="14120F"/>
                </a:solidFill>
              </a:rPr>
              <a:t>Proof is auditable across users, transactions, and feedback.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5C29E05-0D53-4209-9326-04FD1B935F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724150"/>
            <a:ext cx="2095500" cy="1428750"/>
          </a:xfrm>
          <a:prstGeom xmlns:a="http://schemas.openxmlformats.org/drawingml/2006/main" prst="roundRect">
            <a:avLst>
              <a:gd name="adj" fmla="val 4000"/>
            </a:avLst>
          </a:prstGeom>
          <a:solidFill xmlns:a="http://schemas.openxmlformats.org/drawingml/2006/main">
            <a:srgbClr val="C9FF45"/>
          </a:solidFill>
          <a:ln xmlns:a="http://schemas.openxmlformats.org/drawingml/2006/main" w="19050">
            <a:solidFill>
              <a:srgbClr val="211B15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BA1D498-EECF-42AD-A169-798281A57A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009900"/>
            <a:ext cx="17526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3900" b="1">
                <a:solidFill>
                  <a:srgbClr val="14120F"/>
                </a:solidFill>
              </a:defRPr>
            </a:pPr>
            <a:r>
              <a:rPr sz="3900" b="1">
                <a:solidFill>
                  <a:srgbClr val="14120F"/>
                </a:solidFill>
              </a:rPr>
              <a:t>50+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C6F40A1-1447-45B0-8796-4DF9DDC8A0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657600"/>
            <a:ext cx="17526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4120F"/>
                </a:solidFill>
              </a:defRPr>
            </a:pPr>
            <a:r>
              <a:rPr sz="1350" b="1">
                <a:solidFill>
                  <a:srgbClr val="14120F"/>
                </a:solidFill>
              </a:rPr>
              <a:t>real Testnet users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DB5FADF-3521-4626-8D64-22996CCAFB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2724150"/>
            <a:ext cx="2095500" cy="1428750"/>
          </a:xfrm>
          <a:prstGeom xmlns:a="http://schemas.openxmlformats.org/drawingml/2006/main" prst="roundRect">
            <a:avLst>
              <a:gd name="adj" fmla="val 4000"/>
            </a:avLst>
          </a:prstGeom>
          <a:solidFill xmlns:a="http://schemas.openxmlformats.org/drawingml/2006/main">
            <a:srgbClr val="2BD9FF"/>
          </a:solidFill>
          <a:ln xmlns:a="http://schemas.openxmlformats.org/drawingml/2006/main" w="19050">
            <a:solidFill>
              <a:srgbClr val="211B15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D0A58CB-EB93-4148-8225-1308341300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3009900"/>
            <a:ext cx="17526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3900" b="1">
                <a:solidFill>
                  <a:srgbClr val="14120F"/>
                </a:solidFill>
              </a:defRPr>
            </a:pPr>
            <a:r>
              <a:rPr sz="3900" b="1">
                <a:solidFill>
                  <a:srgbClr val="14120F"/>
                </a:solidFill>
              </a:rPr>
              <a:t>50+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4EF4BE7-0092-4AB1-A41B-01673EF49C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3657600"/>
            <a:ext cx="17526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4120F"/>
                </a:solidFill>
              </a:defRPr>
            </a:pPr>
            <a:r>
              <a:rPr sz="1350" b="1">
                <a:solidFill>
                  <a:srgbClr val="14120F"/>
                </a:solidFill>
              </a:rPr>
              <a:t>transaction wallets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7C5A7AE-60B9-4B83-BC25-F81BF8B0FD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2724150"/>
            <a:ext cx="2095500" cy="1428750"/>
          </a:xfrm>
          <a:prstGeom xmlns:a="http://schemas.openxmlformats.org/drawingml/2006/main" prst="roundRect">
            <a:avLst>
              <a:gd name="adj" fmla="val 4000"/>
            </a:avLst>
          </a:prstGeom>
          <a:solidFill xmlns:a="http://schemas.openxmlformats.org/drawingml/2006/main">
            <a:srgbClr val="C9FF45"/>
          </a:solidFill>
          <a:ln xmlns:a="http://schemas.openxmlformats.org/drawingml/2006/main" w="19050">
            <a:solidFill>
              <a:srgbClr val="211B15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E7E184F-C9EC-4659-9712-498A71DC56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3009900"/>
            <a:ext cx="17526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3900" b="1">
                <a:solidFill>
                  <a:srgbClr val="14120F"/>
                </a:solidFill>
              </a:defRPr>
            </a:pPr>
            <a:r>
              <a:rPr sz="3900" b="1">
                <a:solidFill>
                  <a:srgbClr val="14120F"/>
                </a:solidFill>
              </a:rPr>
              <a:t>1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A05408C-884F-44CF-8A68-3A7943FB33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3657600"/>
            <a:ext cx="17526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4120F"/>
                </a:solidFill>
              </a:defRPr>
            </a:pPr>
            <a:r>
              <a:rPr sz="1350" b="1">
                <a:solidFill>
                  <a:srgbClr val="14120F"/>
                </a:solidFill>
              </a:rPr>
              <a:t>Google Form export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C36BD7F-DCE1-4972-8F6C-205F7948C7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2724150"/>
            <a:ext cx="2095500" cy="1428750"/>
          </a:xfrm>
          <a:prstGeom xmlns:a="http://schemas.openxmlformats.org/drawingml/2006/main" prst="roundRect">
            <a:avLst>
              <a:gd name="adj" fmla="val 4000"/>
            </a:avLst>
          </a:prstGeom>
          <a:solidFill xmlns:a="http://schemas.openxmlformats.org/drawingml/2006/main">
            <a:srgbClr val="2BD9FF"/>
          </a:solidFill>
          <a:ln xmlns:a="http://schemas.openxmlformats.org/drawingml/2006/main" w="19050">
            <a:solidFill>
              <a:srgbClr val="211B15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078BC5B-7532-4363-A85F-7B5E422D63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3009900"/>
            <a:ext cx="17526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3900" b="1">
                <a:solidFill>
                  <a:srgbClr val="14120F"/>
                </a:solidFill>
              </a:defRPr>
            </a:pPr>
            <a:r>
              <a:rPr sz="3900" b="1">
                <a:solidFill>
                  <a:srgbClr val="14120F"/>
                </a:solidFill>
              </a:rPr>
              <a:t>1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E69E393-873F-4E13-B967-051E67433D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3657600"/>
            <a:ext cx="17526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4120F"/>
                </a:solidFill>
              </a:defRPr>
            </a:pPr>
            <a:r>
              <a:rPr sz="1350" b="1">
                <a:solidFill>
                  <a:srgbClr val="14120F"/>
                </a:solidFill>
              </a:rPr>
              <a:t>feedback roadmap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4E1B3BD-3958-4492-9EEF-5D2E62FFAB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4743450"/>
            <a:ext cx="93726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14120F"/>
                </a:solidFill>
              </a:defRPr>
            </a:pPr>
            <a:r>
              <a:rPr sz="1875" b="1">
                <a:solidFill>
                  <a:srgbClr val="14120F"/>
                </a:solidFill>
              </a:rPr>
              <a:t>The backend tracks active transaction wallets, while the evidence pack links Form responses, Excel analysis, screenshots, and explorer URLs.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49F0623-1DF4-46D9-A575-0814D4A902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24600"/>
            <a:ext cx="3238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6F675D"/>
                </a:solidFill>
              </a:defRPr>
            </a:pPr>
            <a:r>
              <a:rPr sz="900" b="1">
                <a:solidFill>
                  <a:srgbClr val="6F675D"/>
                </a:solidFill>
              </a:rPr>
              <a:t>ProofBull // Level 5 Blue Belt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C0F67EA-5B28-42AB-AB47-8F8831DD42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286500"/>
            <a:ext cx="457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6F675D"/>
                </a:solidFill>
              </a:defRPr>
            </a:pPr>
            <a:r>
              <a:rPr sz="1200" b="1">
                <a:solidFill>
                  <a:srgbClr val="6F675D"/>
                </a:solidFill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808931295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A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F137C3B-EF03-4A54-8B77-FDBBAD05B6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4350"/>
            <a:ext cx="4953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FF6242"/>
                </a:solidFill>
              </a:defRPr>
            </a:pPr>
            <a:r>
              <a:rPr sz="1200" b="1">
                <a:solidFill>
                  <a:srgbClr val="FF6242"/>
                </a:solidFill>
              </a:rPr>
              <a:t>MARKET OPPORTUNITY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F17E1FF-DC38-4A39-9BAE-6D4FA70DB1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38200"/>
            <a:ext cx="72390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14120F"/>
                </a:solidFill>
              </a:defRPr>
            </a:pPr>
            <a:r>
              <a:rPr sz="3600" b="1">
                <a:solidFill>
                  <a:srgbClr val="14120F"/>
                </a:solidFill>
              </a:rPr>
              <a:t>The first beachhead is teams that need lightweight proof-of-participation.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186E6F5-8CDE-4B47-960C-8AB2DF0DEC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647950"/>
            <a:ext cx="228600" cy="2286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F2B705"/>
          </a:solidFill>
          <a:ln xmlns:a="http://schemas.openxmlformats.org/drawingml/2006/main" w="19050">
            <a:solidFill>
              <a:srgbClr val="211B15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23E7E07-5C00-4E76-9C01-162F3C5739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2628900"/>
            <a:ext cx="6572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14120F"/>
                </a:solidFill>
              </a:defRPr>
            </a:pPr>
            <a:r>
              <a:rPr sz="1800" b="1">
                <a:solidFill>
                  <a:srgbClr val="14120F"/>
                </a:solidFill>
              </a:rPr>
              <a:t>Hackathons and workshops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4BBD5EE-318D-4241-9B40-A86FA24582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2933700"/>
            <a:ext cx="6572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F675D"/>
                </a:solidFill>
              </a:defRPr>
            </a:pPr>
            <a:r>
              <a:rPr sz="1200" b="0">
                <a:solidFill>
                  <a:srgbClr val="6F675D"/>
                </a:solidFill>
              </a:rPr>
              <a:t>Participants need a fast way to show wallet setup and contract usage.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E8B653B-8EE0-43DC-B3F1-44E048CF13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371850"/>
            <a:ext cx="228600" cy="2286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2BD9FF"/>
          </a:solidFill>
          <a:ln xmlns:a="http://schemas.openxmlformats.org/drawingml/2006/main" w="19050">
            <a:solidFill>
              <a:srgbClr val="211B15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A377F60-0DC4-4236-8DB5-5F94712577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3352800"/>
            <a:ext cx="6572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14120F"/>
                </a:solidFill>
              </a:defRPr>
            </a:pPr>
            <a:r>
              <a:rPr sz="1800" b="1">
                <a:solidFill>
                  <a:srgbClr val="14120F"/>
                </a:solidFill>
              </a:rPr>
              <a:t>Builder communities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3B93108-54E8-44C4-A616-88BB3847AE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3657600"/>
            <a:ext cx="6572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F675D"/>
                </a:solidFill>
              </a:defRPr>
            </a:pPr>
            <a:r>
              <a:rPr sz="1200" b="0">
                <a:solidFill>
                  <a:srgbClr val="6F675D"/>
                </a:solidFill>
              </a:rPr>
              <a:t>Organizers need verifiable activation without building custom dashboards.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CB8D22F-7330-4EF1-A205-9638805C1E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095750"/>
            <a:ext cx="228600" cy="2286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F2B705"/>
          </a:solidFill>
          <a:ln xmlns:a="http://schemas.openxmlformats.org/drawingml/2006/main" w="19050">
            <a:solidFill>
              <a:srgbClr val="211B15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435D13C-44E6-4AA9-955F-41E75CAD72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4076700"/>
            <a:ext cx="6572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14120F"/>
                </a:solidFill>
              </a:defRPr>
            </a:pPr>
            <a:r>
              <a:rPr sz="1800" b="1">
                <a:solidFill>
                  <a:srgbClr val="14120F"/>
                </a:solidFill>
              </a:rPr>
              <a:t>Early ecosystem programs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61DCCD8-348C-4531-ABB2-70B06E4AEC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4381500"/>
            <a:ext cx="6572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F675D"/>
                </a:solidFill>
              </a:defRPr>
            </a:pPr>
            <a:r>
              <a:rPr sz="1200" b="0">
                <a:solidFill>
                  <a:srgbClr val="6F675D"/>
                </a:solidFill>
              </a:rPr>
              <a:t>Reviewers need usage proof, feedback summaries, and demo-ready artifacts.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B88BF4B-8676-4F59-8768-DE759E8C4C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2590800"/>
            <a:ext cx="2381250" cy="2381250"/>
          </a:xfrm>
          <a:prstGeom xmlns:a="http://schemas.openxmlformats.org/drawingml/2006/main" prst="roundRect">
            <a:avLst>
              <a:gd name="adj" fmla="val 2400"/>
            </a:avLst>
          </a:prstGeom>
          <a:solidFill xmlns:a="http://schemas.openxmlformats.org/drawingml/2006/main">
            <a:srgbClr val="14120F"/>
          </a:solidFill>
          <a:ln xmlns:a="http://schemas.openxmlformats.org/drawingml/2006/main" w="19050">
            <a:solidFill>
              <a:srgbClr val="211B15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328263F-4B71-4093-9A04-6F050D0C30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3181350"/>
            <a:ext cx="158115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FFFAF0"/>
                </a:solidFill>
              </a:defRPr>
            </a:pPr>
            <a:r>
              <a:rPr sz="2100" b="1">
                <a:solidFill>
                  <a:srgbClr val="FFFAF0"/>
                </a:solidFill>
              </a:rPr>
              <a:t>Start with review proof. Grow into reputation.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90D847C-96C1-4079-ADE2-2BFEC6623A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24600"/>
            <a:ext cx="3238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6F675D"/>
                </a:solidFill>
              </a:defRPr>
            </a:pPr>
            <a:r>
              <a:rPr sz="900" b="1">
                <a:solidFill>
                  <a:srgbClr val="6F675D"/>
                </a:solidFill>
              </a:rPr>
              <a:t>ProofBull // Level 5 Blue Belt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B913B26-B732-4ACE-A853-6B1DADBE90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286500"/>
            <a:ext cx="457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6F675D"/>
                </a:solidFill>
              </a:defRPr>
            </a:pPr>
            <a:r>
              <a:rPr sz="1200" b="1">
                <a:solidFill>
                  <a:srgbClr val="6F675D"/>
                </a:solidFill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1052339489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A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E40FB66-CA31-40C9-9310-772016DB5E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4350"/>
            <a:ext cx="4953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FF6242"/>
                </a:solidFill>
              </a:defRPr>
            </a:pPr>
            <a:r>
              <a:rPr sz="1200" b="1">
                <a:solidFill>
                  <a:srgbClr val="FF6242"/>
                </a:solidFill>
              </a:rPr>
              <a:t>GROWTH STRATEGY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FD48BAB-67C7-4688-8FE3-70AFFC703F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38200"/>
            <a:ext cx="72390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14120F"/>
                </a:solidFill>
              </a:defRPr>
            </a:pPr>
            <a:r>
              <a:rPr sz="3600" b="1">
                <a:solidFill>
                  <a:srgbClr val="14120F"/>
                </a:solidFill>
              </a:rPr>
              <a:t>Growth starts with guided cohorts, then turns proof into retention.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B81C4BA-D95B-436D-B427-DFE69BA08C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628900"/>
            <a:ext cx="2781300" cy="2095500"/>
          </a:xfrm>
          <a:prstGeom xmlns:a="http://schemas.openxmlformats.org/drawingml/2006/main" prst="roundRect">
            <a:avLst>
              <a:gd name="adj" fmla="val 272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211B15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E88C873-AECA-47C8-A28A-9411DC2A65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2914650"/>
            <a:ext cx="22479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14120F"/>
                </a:solidFill>
              </a:defRPr>
            </a:pPr>
            <a:r>
              <a:rPr sz="2550" b="1">
                <a:solidFill>
                  <a:srgbClr val="14120F"/>
                </a:solidFill>
              </a:rPr>
              <a:t>Acquire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E5BD0EB-90FE-461C-BF55-C876D99CA4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524250"/>
            <a:ext cx="22479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6F675D"/>
                </a:solidFill>
              </a:defRPr>
            </a:pPr>
            <a:r>
              <a:rPr sz="1350" b="0">
                <a:solidFill>
                  <a:srgbClr val="6F675D"/>
                </a:solidFill>
              </a:rPr>
              <a:t>Invite Stellar workshop users and hackathon peers to complete a guided Testnet check-in.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D2EA352-BED5-41B6-80D6-EE3B7E74FD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2628900"/>
            <a:ext cx="2781300" cy="2095500"/>
          </a:xfrm>
          <a:prstGeom xmlns:a="http://schemas.openxmlformats.org/drawingml/2006/main" prst="roundRect">
            <a:avLst>
              <a:gd name="adj" fmla="val 2727"/>
            </a:avLst>
          </a:prstGeom>
          <a:solidFill xmlns:a="http://schemas.openxmlformats.org/drawingml/2006/main">
            <a:srgbClr val="C9FF45"/>
          </a:solidFill>
          <a:ln xmlns:a="http://schemas.openxmlformats.org/drawingml/2006/main" w="19050">
            <a:solidFill>
              <a:srgbClr val="211B15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0B77C83-86DB-4A9B-8B03-1526C7A838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2914650"/>
            <a:ext cx="22479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14120F"/>
                </a:solidFill>
              </a:defRPr>
            </a:pPr>
            <a:r>
              <a:rPr sz="2550" b="1">
                <a:solidFill>
                  <a:srgbClr val="14120F"/>
                </a:solidFill>
              </a:rPr>
              <a:t>Activate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02B1A68-A372-4635-93F6-29940C1A2D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3524250"/>
            <a:ext cx="22479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6F675D"/>
                </a:solidFill>
              </a:defRPr>
            </a:pPr>
            <a:r>
              <a:rPr sz="1350" b="0">
                <a:solidFill>
                  <a:srgbClr val="6F675D"/>
                </a:solidFill>
              </a:rPr>
              <a:t>Use wallet guidance, transaction status, and explorer links to reduce signing uncertainty.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3B80D49-B6E5-4BC4-A629-3CB3D1B5E3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2628900"/>
            <a:ext cx="2781300" cy="2095500"/>
          </a:xfrm>
          <a:prstGeom xmlns:a="http://schemas.openxmlformats.org/drawingml/2006/main" prst="roundRect">
            <a:avLst>
              <a:gd name="adj" fmla="val 272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211B15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BEAC0FE-2ADE-48E0-AC07-AD28C74F43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2914650"/>
            <a:ext cx="22479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14120F"/>
                </a:solidFill>
              </a:defRPr>
            </a:pPr>
            <a:r>
              <a:rPr sz="2550" b="1">
                <a:solidFill>
                  <a:srgbClr val="14120F"/>
                </a:solidFill>
              </a:rPr>
              <a:t>Retain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258F94C-96E8-40FA-9F90-54996D8B11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3524250"/>
            <a:ext cx="22479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6F675D"/>
                </a:solidFill>
              </a:defRPr>
            </a:pPr>
            <a:r>
              <a:rPr sz="1350" b="0">
                <a:solidFill>
                  <a:srgbClr val="6F675D"/>
                </a:solidFill>
              </a:rPr>
              <a:t>Turn repeat check-ins into badge progress, cohort history, and community proof.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99E34A5-58CA-4C91-AF63-355CAC847A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24600"/>
            <a:ext cx="3238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6F675D"/>
                </a:solidFill>
              </a:defRPr>
            </a:pPr>
            <a:r>
              <a:rPr sz="900" b="1">
                <a:solidFill>
                  <a:srgbClr val="6F675D"/>
                </a:solidFill>
              </a:rPr>
              <a:t>ProofBull // Level 5 Blue Belt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7D2DFC3-27E4-4648-8BDE-310B484564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286500"/>
            <a:ext cx="457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6F675D"/>
                </a:solidFill>
              </a:defRPr>
            </a:pPr>
            <a:r>
              <a:rPr sz="1200" b="1">
                <a:solidFill>
                  <a:srgbClr val="6F675D"/>
                </a:solidFill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837275262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11100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5320609-8C1B-4CBC-ACAB-3E857833A7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4350"/>
            <a:ext cx="2476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C9FF45"/>
                </a:solidFill>
              </a:defRPr>
            </a:pPr>
            <a:r>
              <a:rPr sz="1200" b="1">
                <a:solidFill>
                  <a:srgbClr val="C9FF45"/>
                </a:solidFill>
              </a:rPr>
              <a:t>ROADMAP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B22B5B0-3385-458E-9163-15EE665619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47750"/>
            <a:ext cx="7810500" cy="1219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450" b="1">
                <a:solidFill>
                  <a:srgbClr val="FFFAF0"/>
                </a:solidFill>
              </a:defRPr>
            </a:pPr>
            <a:r>
              <a:rPr sz="3450" b="1">
                <a:solidFill>
                  <a:srgbClr val="FFFAF0"/>
                </a:solidFill>
              </a:rPr>
              <a:t>Next phase: convert proof collection into a repeatable onboarding engine.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AC10496-D3E3-461D-B88B-FFCA086179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952750"/>
            <a:ext cx="1428750" cy="495300"/>
          </a:xfrm>
          <a:prstGeom xmlns:a="http://schemas.openxmlformats.org/drawingml/2006/main" prst="roundRect">
            <a:avLst>
              <a:gd name="adj" fmla="val 11538"/>
            </a:avLst>
          </a:prstGeom>
          <a:solidFill xmlns:a="http://schemas.openxmlformats.org/drawingml/2006/main">
            <a:srgbClr val="C9FF45"/>
          </a:solidFill>
          <a:ln xmlns:a="http://schemas.openxmlformats.org/drawingml/2006/main" w="19050">
            <a:solidFill>
              <a:srgbClr val="211B15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1CD5DD1-5D9B-4974-9761-A1536645CE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3048000"/>
            <a:ext cx="1009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4120F"/>
                </a:solidFill>
              </a:defRPr>
            </a:pPr>
            <a:r>
              <a:rPr sz="1800" b="1">
                <a:solidFill>
                  <a:srgbClr val="14120F"/>
                </a:solidFill>
              </a:rPr>
              <a:t>Now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CD2CD4E-E03C-497A-B2EC-6C3FFB5F91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3009900"/>
            <a:ext cx="6858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FFFAF0"/>
                </a:solidFill>
              </a:defRPr>
            </a:pPr>
            <a:r>
              <a:rPr sz="1800" b="0">
                <a:solidFill>
                  <a:srgbClr val="FFFAF0"/>
                </a:solidFill>
              </a:rPr>
              <a:t>Ship Level 5 growth proof, feedback workbook, and pitch deck.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E4F7896-5785-4A2B-A64D-FD67138F00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790950"/>
            <a:ext cx="1428750" cy="495300"/>
          </a:xfrm>
          <a:prstGeom xmlns:a="http://schemas.openxmlformats.org/drawingml/2006/main" prst="roundRect">
            <a:avLst>
              <a:gd name="adj" fmla="val 11538"/>
            </a:avLst>
          </a:prstGeom>
          <a:solidFill xmlns:a="http://schemas.openxmlformats.org/drawingml/2006/main">
            <a:srgbClr val="2BD9FF"/>
          </a:solidFill>
          <a:ln xmlns:a="http://schemas.openxmlformats.org/drawingml/2006/main" w="19050">
            <a:solidFill>
              <a:srgbClr val="211B15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B080849-8905-467A-99CF-19BB131DAE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3886200"/>
            <a:ext cx="1009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4120F"/>
                </a:solidFill>
              </a:defRPr>
            </a:pPr>
            <a:r>
              <a:rPr sz="1800" b="1">
                <a:solidFill>
                  <a:srgbClr val="14120F"/>
                </a:solidFill>
              </a:rPr>
              <a:t>Next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273DC85-FB75-40C4-988D-042F1F15B6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3848100"/>
            <a:ext cx="6858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FFFAF0"/>
                </a:solidFill>
              </a:defRPr>
            </a:pPr>
            <a:r>
              <a:rPr sz="1800" b="0">
                <a:solidFill>
                  <a:srgbClr val="FFFAF0"/>
                </a:solidFill>
              </a:rPr>
              <a:t>Use real responses to improve funding guidance and transaction copy.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9083B92-EB37-40F4-9B9B-4C4D1C72AB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629150"/>
            <a:ext cx="1428750" cy="495300"/>
          </a:xfrm>
          <a:prstGeom xmlns:a="http://schemas.openxmlformats.org/drawingml/2006/main" prst="roundRect">
            <a:avLst>
              <a:gd name="adj" fmla="val 11538"/>
            </a:avLst>
          </a:prstGeom>
          <a:solidFill xmlns:a="http://schemas.openxmlformats.org/drawingml/2006/main">
            <a:srgbClr val="2BD9FF"/>
          </a:solidFill>
          <a:ln xmlns:a="http://schemas.openxmlformats.org/drawingml/2006/main" w="19050">
            <a:solidFill>
              <a:srgbClr val="211B15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FE610ED-CCFE-4C3B-88B3-DCD4B5DE24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4724400"/>
            <a:ext cx="1009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4120F"/>
                </a:solidFill>
              </a:defRPr>
            </a:pPr>
            <a:r>
              <a:rPr sz="1800" b="1">
                <a:solidFill>
                  <a:srgbClr val="14120F"/>
                </a:solidFill>
              </a:rPr>
              <a:t>Later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573F109-4E68-41EC-BA2B-B429105A65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4686300"/>
            <a:ext cx="6858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FFFAF0"/>
                </a:solidFill>
              </a:defRPr>
            </a:pPr>
            <a:r>
              <a:rPr sz="1800" b="0">
                <a:solidFill>
                  <a:srgbClr val="FFFAF0"/>
                </a:solidFill>
              </a:rPr>
              <a:t>Add retention metrics, cohort pages, and stronger badge utility.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0606BF8-E3DE-4350-BD19-3FA3537804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895350"/>
            <a:ext cx="2038350" cy="2038350"/>
          </a:xfrm>
          <a:prstGeom xmlns:a="http://schemas.openxmlformats.org/drawingml/2006/main" prst="roundRect">
            <a:avLst>
              <a:gd name="adj" fmla="val 2804"/>
            </a:avLst>
          </a:prstGeom>
          <a:noFill xmlns:a="http://schemas.openxmlformats.org/drawingml/2006/main"/>
          <a:ln xmlns:a="http://schemas.openxmlformats.org/drawingml/2006/main" w="19050">
            <a:solidFill>
              <a:srgbClr val="C9FF45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150085B-8104-4D2E-9AE4-0339FDAAD6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1428750"/>
            <a:ext cx="15049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C9FF45"/>
                </a:solidFill>
              </a:defRPr>
            </a:pPr>
            <a:r>
              <a:rPr sz="1800" b="1">
                <a:solidFill>
                  <a:srgbClr val="C9FF45"/>
                </a:solidFill>
              </a:rPr>
              <a:t>Blue Belt ask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9810312-1678-4D27-885E-104AA25EC6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1924050"/>
            <a:ext cx="13906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FFFAF0"/>
                </a:solidFill>
              </a:defRPr>
            </a:pPr>
            <a:r>
              <a:rPr sz="1050" b="0">
                <a:solidFill>
                  <a:srgbClr val="FFFAF0"/>
                </a:solidFill>
              </a:rPr>
              <a:t>Approve after 50 real wallet rows, Form export, and demo links are attached.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8667B29-334E-4051-B5F3-1935C5F670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05550"/>
            <a:ext cx="3429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D8D3C8"/>
                </a:solidFill>
              </a:defRPr>
            </a:pPr>
            <a:r>
              <a:rPr sz="900" b="1">
                <a:solidFill>
                  <a:srgbClr val="D8D3C8"/>
                </a:solidFill>
              </a:rPr>
              <a:t>ProofBull // Stellar Testnet MVP</a:t>
            </a:r>
          </a:p>
        </p:txBody>
      </p:sp>
    </p:spTree>
    <p:extLst>
      <p:ext uri="{BB962C8B-B14F-4D97-AF65-F5344CB8AC3E}">
        <p14:creationId xmlns:p14="http://schemas.microsoft.com/office/powerpoint/2010/main" val="1235448717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2026-08-15T10:19:41.0430000Z</dcterms:created>
  <dcterms:modified xsi:type="dcterms:W3CDTF">2026-08-15T10:19:41.0430000Z</dcterms:modified>
</coreProperties>
</file>